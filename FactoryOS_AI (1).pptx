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energy: 'Factories run on knowledge scattered across a thousand PDFs, drawings, and sensor logs — FactoryOS AI turns all of that into one intelligent operating system.' (20 sec). Emphasize the tagline and that this is a working platform, not a mockup. Likely judge question: 'Why an OS and not just a chatbot?' Answer: because it orchestrates agents, data, and actions across the whole plant, not a single Q&amp;A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 ~45 sec. Walk the four pain points quickly, then land on the side panel: this isn't a minor inefficiency, it's compounding cost. Emphasize the last line as the pivot to your solution. Judge question: 'Isn't this just a search problem?' Answer: search finds documents; the real problem is reasoning across documents, drawings, and telemetry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sec. Point at the six-technology grid, then pivot to the query panel — read one example aloud in a natural voice. Stress 'explainable, cited answers' since judges will probe hallucination risk. Judge question: 'How do you prevent hallucination?' Answer: RAG grounding plus mandatory source citation and a verification pass before the final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sec. Trace the left stack top-to-bottom ('a request enters through React, hits FastAPI, and is routed by our LangGraph orchestrator'), then trace the right flow left-to-right per row. Emphasize the feedback loop — the system improves retrieval quality over time. Judge question: 'Why LangGraph over a single LLM call?' Answer: multi-step tool use (retrieval, verification, citation) needs stateful agent orchestration, not one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sec. Move left-to-right, top-to-bottom, one breath per card. Don't over-explain each — this slide is about breadth. Judge question: 'Which module is most differentiated?' Answer: Fault Diagnosis, because it fuses log, image, and symptom evidence into one ranked, explainable output — most tools only do one of those.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sec. Narrate the six demo steps as if walking through a live screen, then land on the dashboard card and read the AI recommendation aloud verbatim — this is your money moment. Judge question: 'Is this real inference or a static mock?' Answer: describe the underlying pipeline (RAG + vision model + risk scoring) that produces this exact output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sec. Don't read every chip — group by layer: 'React and Next on the front end, FastAPI on the back, LangGraph orchestrating GPT and Gemini, pgvector for retrieval, Docker for deployment.' Judge question: 'Why two LLM providers?' Answer: model redundancy and cost/latency routing — heavier reasoning to GPT, lighter multimodal tasks to Gemini.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sec. Trace down the FactoryOS AI column: 'Across every dimension that matters to an engineer, we're the only column filled in.' Judge question: 'What stops a generic chatbot from adding these features?' Answer: it requires purpose-built industrial RAG, a knowledge graph, and vision pipelines trained on engineering data — not a prompt tweak.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sec. Cover the four revenue lines briskly, then narrate the funnel top to bottom without over-claiming exact figures — frame it as directional. Judge question: 'What's your initial beachhead vertical?' Answer: pick the heaviest-downtime, most document-dense vertical first (e.g. power or oil &amp; gas) to prove ROI fastest.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sec. Deliver each 'why we win' point with conviction, then pause before 'Thank you' for effect. Leave 2+ minutes for Q&amp;A. Likely toughest judge question: 'What's built vs. planned?' Be honest and specific about current prototype scope vs. roadmap — credibility beats overclaiming.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891B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3840480"/>
            <a:ext cx="2011680" cy="201168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457200"/>
            <a:ext cx="2926080" cy="0"/>
          </a:xfrm>
          <a:prstGeom prst="line">
            <a:avLst/>
          </a:prstGeom>
          <a:noFill/>
          <a:ln w="9525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777240"/>
            <a:ext cx="2926080" cy="0"/>
          </a:xfrm>
          <a:prstGeom prst="line">
            <a:avLst/>
          </a:prstGeom>
          <a:noFill/>
          <a:ln w="9525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0" y="1097280"/>
            <a:ext cx="2926080" cy="0"/>
          </a:xfrm>
          <a:prstGeom prst="line">
            <a:avLst/>
          </a:prstGeom>
          <a:noFill/>
          <a:ln w="9525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1417320"/>
            <a:ext cx="2926080" cy="0"/>
          </a:xfrm>
          <a:prstGeom prst="line">
            <a:avLst/>
          </a:prstGeom>
          <a:noFill/>
          <a:ln w="9525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FLUXWAVE 2.0  ·  ARTIFICIAL INTELLIGENCE DOMAIN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FactoryOS AI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Industrial Intelligence Operating System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4526280"/>
            <a:ext cx="1463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709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factory knowledge into intelligent decisions — unifying LLMs, RAG, computer vision, and IoT analytics into one digital brain for industrial operations.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FactoryOS  |  National AI Hackathon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548640"/>
            <a:ext cx="2194560" cy="2194560"/>
          </a:xfrm>
          <a:prstGeom prst="ellipse">
            <a:avLst/>
          </a:prstGeom>
          <a:solidFill>
            <a:srgbClr val="0891B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5669280"/>
            <a:ext cx="2560320" cy="256032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82296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knowledge is scattered,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searchable, and disappearing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1554480" y="2313432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waste hours hunting for the same manual, drawing, or SOP across drives and emails.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264408"/>
            <a:ext cx="502920" cy="502920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64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teams re-solve identical failures because past fixes are never captured or reused.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502920" cy="502920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97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1554480" y="4178808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tribal knowledge walk out the door with every retiring senior engineer.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5129784"/>
            <a:ext cx="502920" cy="502920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129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1554480" y="5111496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climbs and root-cause analysis drags on while data sits siloed across ERPs and logs.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92440" y="960120"/>
            <a:ext cx="3246120" cy="5120640"/>
          </a:xfrm>
          <a:prstGeom prst="roundRect">
            <a:avLst>
              <a:gd name="adj" fmla="val 3380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COSTS THE PLANT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6676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Slower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6676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66760" y="2788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36676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failures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66760" y="3794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Rising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36676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6676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366760" y="5303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Senior-engineer expertise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" y="608076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document management can't understand engineering language or reason across sources — factories need an AI operating system, not another search bar.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FactoryOS 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548640"/>
            <a:ext cx="2194560" cy="2194560"/>
          </a:xfrm>
          <a:prstGeom prst="ellipse">
            <a:avLst/>
          </a:prstGeom>
          <a:solidFill>
            <a:srgbClr val="0891B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5669280"/>
            <a:ext cx="2560320" cy="256032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brain for the entire factory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FactoryOS AI fuses six AI disciplines into a single reasoning layer that understands every document, drawing, log, and sensor reading in the plant.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468880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3317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331720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468880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3317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044952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182112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04495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Graphs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3044952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3182112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04495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+ OCR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3758184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895344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75818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Telemetry Analytics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43400" y="3758184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3895344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75818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92440" y="914400"/>
            <a:ext cx="3291840" cy="5212080"/>
          </a:xfrm>
          <a:prstGeom prst="roundRect">
            <a:avLst>
              <a:gd name="adj" fmla="val 3889"/>
            </a:avLst>
          </a:prstGeom>
          <a:solidFill>
            <a:srgbClr val="0E1530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143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ANYTHING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21040" y="169164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121A3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169164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Compressor 3 fail last month?”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21040" y="2862072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121A3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2862072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maintenance procedure for Pump A12?”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321040" y="4032504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121A3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4032504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every overheating incident this year.”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21040" y="5294376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explainable — reasoned across sources, with full citations back to the original document.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FactoryOS 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548640"/>
            <a:ext cx="2194560" cy="2194560"/>
          </a:xfrm>
          <a:prstGeom prst="ellipse">
            <a:avLst/>
          </a:prstGeom>
          <a:solidFill>
            <a:srgbClr val="0891B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5669280"/>
            <a:ext cx="2560320" cy="256032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Architecture &amp; Reasoning Workflow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STACK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08760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88920" y="2112264"/>
            <a:ext cx="0" cy="128016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240280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240280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Auth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88920" y="2843784"/>
            <a:ext cx="0" cy="128016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971800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0891B2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971800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Orchestrator (LangGraph Agents)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88920" y="3575304"/>
            <a:ext cx="0" cy="128016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703320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703320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+ Vector DB (pgvector)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88920" y="4306824"/>
            <a:ext cx="0" cy="128016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434840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0891B2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434840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(GPT / Gemini)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88920" y="5038344"/>
            <a:ext cx="0" cy="128016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166360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166360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· IoT · SQL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166360" y="1234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WORKFLOW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66360" y="1600200"/>
            <a:ext cx="1481328" cy="868680"/>
          </a:xfrm>
          <a:prstGeom prst="roundRect">
            <a:avLst>
              <a:gd name="adj" fmla="val 10526"/>
            </a:avLst>
          </a:prstGeom>
          <a:solidFill>
            <a:srgbClr val="121A3A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16550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1892808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47688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93408" y="1600200"/>
            <a:ext cx="1481328" cy="868680"/>
          </a:xfrm>
          <a:prstGeom prst="roundRect">
            <a:avLst>
              <a:gd name="adj" fmla="val 10526"/>
            </a:avLst>
          </a:prstGeom>
          <a:solidFill>
            <a:srgbClr val="121A3A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16550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84848" y="1892808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74736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20456" y="1600200"/>
            <a:ext cx="1481328" cy="868680"/>
          </a:xfrm>
          <a:prstGeom prst="roundRect">
            <a:avLst>
              <a:gd name="adj" fmla="val 10526"/>
            </a:avLst>
          </a:prstGeom>
          <a:solidFill>
            <a:srgbClr val="121A3A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11896" y="16550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11896" y="1892808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701784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747504" y="1600200"/>
            <a:ext cx="1481328" cy="868680"/>
          </a:xfrm>
          <a:prstGeom prst="roundRect">
            <a:avLst>
              <a:gd name="adj" fmla="val 10526"/>
            </a:avLst>
          </a:prstGeom>
          <a:solidFill>
            <a:srgbClr val="121A3A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38944" y="16550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38944" y="1892808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Ranking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166360" y="2788920"/>
            <a:ext cx="1481328" cy="868680"/>
          </a:xfrm>
          <a:prstGeom prst="roundRect">
            <a:avLst>
              <a:gd name="adj" fmla="val 10526"/>
            </a:avLst>
          </a:prstGeom>
          <a:solidFill>
            <a:srgbClr val="121A3A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28437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57800" y="3081528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647688" y="304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693408" y="2788920"/>
            <a:ext cx="1481328" cy="868680"/>
          </a:xfrm>
          <a:prstGeom prst="roundRect">
            <a:avLst>
              <a:gd name="adj" fmla="val 10526"/>
            </a:avLst>
          </a:prstGeom>
          <a:solidFill>
            <a:srgbClr val="121A3A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84848" y="28437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84848" y="3081528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Verification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174736" y="304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20456" y="2788920"/>
            <a:ext cx="1481328" cy="868680"/>
          </a:xfrm>
          <a:prstGeom prst="roundRect">
            <a:avLst>
              <a:gd name="adj" fmla="val 10526"/>
            </a:avLst>
          </a:prstGeom>
          <a:solidFill>
            <a:srgbClr val="121A3A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11896" y="28437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311896" y="3081528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Response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166360" y="4023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feedback loop refines future retrieval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FactoryOS 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548640"/>
            <a:ext cx="2194560" cy="2194560"/>
          </a:xfrm>
          <a:prstGeom prst="ellipse">
            <a:avLst/>
          </a:prstGeom>
          <a:solidFill>
            <a:srgbClr val="0891B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5669280"/>
            <a:ext cx="2560320" cy="256032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modules, one intelligence layer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639312" cy="2148840"/>
          </a:xfrm>
          <a:prstGeom prst="roundRect">
            <a:avLst>
              <a:gd name="adj" fmla="val 5106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737360"/>
            <a:ext cx="502920" cy="502920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1051560" y="237744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Knowledge Assistant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51560" y="2834640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Q&amp;A with context memory, semantic search, and full source citations.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26864" y="1508760"/>
            <a:ext cx="3639312" cy="2148840"/>
          </a:xfrm>
          <a:prstGeom prst="roundRect">
            <a:avLst>
              <a:gd name="adj" fmla="val 5106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55464" y="1737360"/>
            <a:ext cx="502920" cy="502920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4855464" y="237744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Intelligence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855464" y="2834640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PDFs, drawings, inspection photos, and handwritten notes via OCR and vision models.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30768" y="1508760"/>
            <a:ext cx="3639312" cy="2148840"/>
          </a:xfrm>
          <a:prstGeom prst="roundRect">
            <a:avLst>
              <a:gd name="adj" fmla="val 5106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59368" y="1737360"/>
            <a:ext cx="502920" cy="502920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59368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8659368" y="237744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659368" y="2834640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failure risk and remaining useful life from historical maintenance patterns.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3886200"/>
            <a:ext cx="3639312" cy="2148840"/>
          </a:xfrm>
          <a:prstGeom prst="roundRect">
            <a:avLst>
              <a:gd name="adj" fmla="val 5106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4114800"/>
            <a:ext cx="502920" cy="502920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1051560" y="475488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 Intelligence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51560" y="5212080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procedure guidance with built-in safety alerts and compliance checks.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26864" y="3886200"/>
            <a:ext cx="3639312" cy="2148840"/>
          </a:xfrm>
          <a:prstGeom prst="roundRect">
            <a:avLst>
              <a:gd name="adj" fmla="val 5106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55464" y="4114800"/>
            <a:ext cx="502920" cy="502920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55464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10" dirty="0"/>
          </a:p>
        </p:txBody>
      </p:sp>
      <p:sp>
        <p:nvSpPr>
          <p:cNvPr id="29" name="Text 27"/>
          <p:cNvSpPr/>
          <p:nvPr/>
        </p:nvSpPr>
        <p:spPr>
          <a:xfrm>
            <a:off x="4855464" y="475488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Diagnosis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855464" y="5212080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symptoms, logs, and images into ranked probable causes with confidence scores.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30768" y="3886200"/>
            <a:ext cx="3639312" cy="2148840"/>
          </a:xfrm>
          <a:prstGeom prst="roundRect">
            <a:avLst>
              <a:gd name="adj" fmla="val 5106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59368" y="4114800"/>
            <a:ext cx="502920" cy="502920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59368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8659368" y="475488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Dashboard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659368" y="5212080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equipment health, downtime trends, and AI insights in one command view.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FactoryOS 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548640"/>
            <a:ext cx="2194560" cy="2194560"/>
          </a:xfrm>
          <a:prstGeom prst="ellipse">
            <a:avLst/>
          </a:prstGeom>
          <a:solidFill>
            <a:srgbClr val="0891B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5669280"/>
            <a:ext cx="2560320" cy="256032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signals to a maintenance decision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STORY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uploads a maintenance report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35915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59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3134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findings and cross-checks prior failures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980944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80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29352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 reads the engineering drawing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602736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02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5570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probable causes + risk score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22452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24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41788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preventive action &amp; spare parts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8463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4800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 generated with source citations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06440" y="1417320"/>
            <a:ext cx="5577840" cy="4709160"/>
          </a:xfrm>
          <a:prstGeom prst="roundRect">
            <a:avLst>
              <a:gd name="adj" fmla="val 2718"/>
            </a:avLst>
          </a:prstGeom>
          <a:solidFill>
            <a:srgbClr val="0E1530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16184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HEALTH — COMPRESSOR 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8076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Wear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80760" y="2395728"/>
            <a:ext cx="5029200" cy="201168"/>
          </a:xfrm>
          <a:prstGeom prst="roundRect">
            <a:avLst>
              <a:gd name="adj" fmla="val 27273"/>
            </a:avLst>
          </a:prstGeom>
          <a:solidFill>
            <a:srgbClr val="121A3A"/>
          </a:solidFill>
          <a:ln/>
        </p:spPr>
      </p:sp>
      <p:sp>
        <p:nvSpPr>
          <p:cNvPr id="29" name="Shape 27"/>
          <p:cNvSpPr/>
          <p:nvPr/>
        </p:nvSpPr>
        <p:spPr>
          <a:xfrm>
            <a:off x="6080760" y="2395728"/>
            <a:ext cx="3922776" cy="201168"/>
          </a:xfrm>
          <a:prstGeom prst="roundRect">
            <a:avLst>
              <a:gd name="adj" fmla="val 27273"/>
            </a:avLst>
          </a:prstGeom>
          <a:solidFill>
            <a:srgbClr val="F87171"/>
          </a:solidFill>
          <a:ln/>
        </p:spPr>
      </p:sp>
      <p:sp>
        <p:nvSpPr>
          <p:cNvPr id="30" name="Text 28"/>
          <p:cNvSpPr/>
          <p:nvPr/>
        </p:nvSpPr>
        <p:spPr>
          <a:xfrm>
            <a:off x="10698480" y="2103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80760" y="27614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Anomaly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80760" y="3054096"/>
            <a:ext cx="5029200" cy="201168"/>
          </a:xfrm>
          <a:prstGeom prst="roundRect">
            <a:avLst>
              <a:gd name="adj" fmla="val 27273"/>
            </a:avLst>
          </a:prstGeom>
          <a:solidFill>
            <a:srgbClr val="121A3A"/>
          </a:solidFill>
          <a:ln/>
        </p:spPr>
      </p:sp>
      <p:sp>
        <p:nvSpPr>
          <p:cNvPr id="33" name="Shape 31"/>
          <p:cNvSpPr/>
          <p:nvPr/>
        </p:nvSpPr>
        <p:spPr>
          <a:xfrm>
            <a:off x="6080760" y="3054096"/>
            <a:ext cx="2766060" cy="201168"/>
          </a:xfrm>
          <a:prstGeom prst="roundRect">
            <a:avLst>
              <a:gd name="adj" fmla="val 27273"/>
            </a:avLst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10698480" y="27614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80760" y="34198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Stress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080760" y="3712464"/>
            <a:ext cx="5029200" cy="201168"/>
          </a:xfrm>
          <a:prstGeom prst="roundRect">
            <a:avLst>
              <a:gd name="adj" fmla="val 27273"/>
            </a:avLst>
          </a:prstGeom>
          <a:solidFill>
            <a:srgbClr val="121A3A"/>
          </a:solidFill>
          <a:ln/>
        </p:spPr>
      </p:sp>
      <p:sp>
        <p:nvSpPr>
          <p:cNvPr id="37" name="Shape 35"/>
          <p:cNvSpPr/>
          <p:nvPr/>
        </p:nvSpPr>
        <p:spPr>
          <a:xfrm>
            <a:off x="6080760" y="3712464"/>
            <a:ext cx="1709928" cy="201168"/>
          </a:xfrm>
          <a:prstGeom prst="roundRect">
            <a:avLst>
              <a:gd name="adj" fmla="val 27273"/>
            </a:avLst>
          </a:prstGeom>
          <a:solidFill>
            <a:srgbClr val="34D399"/>
          </a:solidFill>
          <a:ln/>
        </p:spPr>
      </p:sp>
      <p:sp>
        <p:nvSpPr>
          <p:cNvPr id="38" name="Text 36"/>
          <p:cNvSpPr/>
          <p:nvPr/>
        </p:nvSpPr>
        <p:spPr>
          <a:xfrm>
            <a:off x="10698480" y="34198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80760" y="4123944"/>
            <a:ext cx="5029200" cy="0"/>
          </a:xfrm>
          <a:prstGeom prst="line">
            <a:avLst/>
          </a:prstGeom>
          <a:noFill/>
          <a:ln w="12700">
            <a:solidFill>
              <a:srgbClr val="1D27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42611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080760" y="458114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bearing inspection within 7 days — pattern matches 3 prior failures (Reports #221, #198, #176). Estimated downtime avoided: significant.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080760" y="54041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High  ·  Sources cited: 3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FactoryOS 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548640"/>
            <a:ext cx="2194560" cy="2194560"/>
          </a:xfrm>
          <a:prstGeom prst="ellipse">
            <a:avLst/>
          </a:prstGeom>
          <a:solidFill>
            <a:srgbClr val="0891B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5669280"/>
            <a:ext cx="2560320" cy="256032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modern, production-grade technology stack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3310128" cy="1417320"/>
          </a:xfrm>
          <a:prstGeom prst="roundRect">
            <a:avLst>
              <a:gd name="adj" fmla="val 7742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82496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084832"/>
            <a:ext cx="626364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84832"/>
            <a:ext cx="6263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41932" y="2084832"/>
            <a:ext cx="796442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41932" y="2084832"/>
            <a:ext cx="7964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48102" y="2084832"/>
            <a:ext cx="1221638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48102" y="2084832"/>
            <a:ext cx="12216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2432304"/>
            <a:ext cx="1306678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432304"/>
            <a:ext cx="13066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5968" y="1554480"/>
            <a:ext cx="3310128" cy="1417320"/>
          </a:xfrm>
          <a:prstGeom prst="roundRect">
            <a:avLst>
              <a:gd name="adj" fmla="val 7742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8848" y="1682496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98848" y="2084832"/>
            <a:ext cx="796442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2084832"/>
            <a:ext cx="7964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05018" y="2084832"/>
            <a:ext cx="711403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05018" y="2084832"/>
            <a:ext cx="7114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08976" y="1554480"/>
            <a:ext cx="3310128" cy="1417320"/>
          </a:xfrm>
          <a:prstGeom prst="roundRect">
            <a:avLst>
              <a:gd name="adj" fmla="val 7742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91856" y="1682496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LLM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91856" y="2084832"/>
            <a:ext cx="711403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91856" y="2084832"/>
            <a:ext cx="7114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812987" y="208483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12987" y="208483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974275" y="2084832"/>
            <a:ext cx="966521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74275" y="2084832"/>
            <a:ext cx="96652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91856" y="2432304"/>
            <a:ext cx="966521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91856" y="2432304"/>
            <a:ext cx="96652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68105" y="243230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68105" y="2432304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22960" y="3246120"/>
            <a:ext cx="3310128" cy="1417320"/>
          </a:xfrm>
          <a:prstGeom prst="roundRect">
            <a:avLst>
              <a:gd name="adj" fmla="val 7742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3374136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05840" y="3776472"/>
            <a:ext cx="881482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3776472"/>
            <a:ext cx="88148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 BGE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997050" y="3776472"/>
            <a:ext cx="1646834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97050" y="3776472"/>
            <a:ext cx="164683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15968" y="3246120"/>
            <a:ext cx="3310128" cy="1417320"/>
          </a:xfrm>
          <a:prstGeom prst="roundRect">
            <a:avLst>
              <a:gd name="adj" fmla="val 7742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98848" y="3374136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498848" y="377647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98848" y="377647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60136" y="3776472"/>
            <a:ext cx="881482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0136" y="3776472"/>
            <a:ext cx="88148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651346" y="3776472"/>
            <a:ext cx="626364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51346" y="3776472"/>
            <a:ext cx="6263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808976" y="3246120"/>
            <a:ext cx="3310128" cy="1417320"/>
          </a:xfrm>
          <a:prstGeom prst="roundRect">
            <a:avLst>
              <a:gd name="adj" fmla="val 7742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91856" y="3374136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/ OCR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991856" y="3776472"/>
            <a:ext cx="966521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91856" y="3776472"/>
            <a:ext cx="96652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068105" y="377647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68105" y="377647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Florence-2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991856" y="4123944"/>
            <a:ext cx="796442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91856" y="4123944"/>
            <a:ext cx="7964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22960" y="4937760"/>
            <a:ext cx="3310128" cy="1417320"/>
          </a:xfrm>
          <a:prstGeom prst="roundRect">
            <a:avLst>
              <a:gd name="adj" fmla="val 7742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5840" y="5065776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1005840" y="5468112"/>
            <a:ext cx="711403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5840" y="5468112"/>
            <a:ext cx="7114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826971" y="5468112"/>
            <a:ext cx="711403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26971" y="5468112"/>
            <a:ext cx="7114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648102" y="5468112"/>
            <a:ext cx="711403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48102" y="5468112"/>
            <a:ext cx="7114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005840" y="5815584"/>
            <a:ext cx="1391717" cy="292608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05840" y="5815584"/>
            <a:ext cx="139171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FactoryOS 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548640"/>
            <a:ext cx="2194560" cy="2194560"/>
          </a:xfrm>
          <a:prstGeom prst="ellipse">
            <a:avLst/>
          </a:prstGeom>
          <a:solidFill>
            <a:srgbClr val="0891B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5669280"/>
            <a:ext cx="2560320" cy="256032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tools fall short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566160" cy="566928"/>
          </a:xfrm>
          <a:prstGeom prst="roundRect">
            <a:avLst/>
          </a:prstGeom>
          <a:solidFill>
            <a:srgbClr val="0A0F24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0" y="1600200"/>
            <a:ext cx="1426464" cy="566928"/>
          </a:xfrm>
          <a:prstGeom prst="roundRect">
            <a:avLst>
              <a:gd name="adj" fmla="val 12903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60020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70448" y="1600200"/>
            <a:ext cx="1426464" cy="566928"/>
          </a:xfrm>
          <a:prstGeom prst="roundRect">
            <a:avLst>
              <a:gd name="adj" fmla="val 12903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70448" y="160020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51776" y="1600200"/>
            <a:ext cx="1426464" cy="566928"/>
          </a:xfrm>
          <a:prstGeom prst="roundRect">
            <a:avLst>
              <a:gd name="adj" fmla="val 12903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51776" y="160020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33104" y="1600200"/>
            <a:ext cx="1426464" cy="566928"/>
          </a:xfrm>
          <a:prstGeom prst="roundRect">
            <a:avLst>
              <a:gd name="adj" fmla="val 12903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33104" y="160020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314432" y="1600200"/>
            <a:ext cx="1426464" cy="566928"/>
          </a:xfrm>
          <a:prstGeom prst="roundRect">
            <a:avLst>
              <a:gd name="adj" fmla="val 12903"/>
            </a:avLst>
          </a:prstGeom>
          <a:solidFill>
            <a:srgbClr val="0891B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14432" y="160020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2167128"/>
            <a:ext cx="3474720" cy="512064"/>
          </a:xfrm>
          <a:prstGeom prst="roundRect">
            <a:avLst>
              <a:gd name="adj" fmla="val 10714"/>
            </a:avLst>
          </a:prstGeom>
          <a:solidFill>
            <a:srgbClr val="0E1530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216712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engineering language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89120" y="2167128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2167128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870448" y="2167128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2167128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51776" y="2167128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51776" y="2167128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833104" y="2167128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33104" y="2167128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314432" y="2167128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0891B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14432" y="2167128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22960" y="2734056"/>
            <a:ext cx="3474720" cy="512064"/>
          </a:xfrm>
          <a:prstGeom prst="roundRect">
            <a:avLst>
              <a:gd name="adj" fmla="val 10714"/>
            </a:avLst>
          </a:prstGeom>
          <a:solidFill>
            <a:srgbClr val="0E1530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273405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across multiple sources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389120" y="2734056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2734056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870448" y="2734056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0448" y="2734056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351776" y="2734056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51776" y="2734056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833104" y="2734056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33104" y="2734056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0314432" y="2734056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0891B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14432" y="2734056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822960" y="3300984"/>
            <a:ext cx="3474720" cy="512064"/>
          </a:xfrm>
          <a:prstGeom prst="roundRect">
            <a:avLst>
              <a:gd name="adj" fmla="val 10714"/>
            </a:avLst>
          </a:prstGeom>
          <a:solidFill>
            <a:srgbClr val="0E1530"/>
          </a:solidFill>
          <a:ln/>
        </p:spPr>
      </p:sp>
      <p:sp>
        <p:nvSpPr>
          <p:cNvPr id="42" name="Text 40"/>
          <p:cNvSpPr/>
          <p:nvPr/>
        </p:nvSpPr>
        <p:spPr>
          <a:xfrm>
            <a:off x="960120" y="330098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(drawings, photos, OCR)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389120" y="3300984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3300984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870448" y="3300984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70448" y="3300984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7351776" y="3300984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51776" y="3300984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833104" y="3300984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33104" y="3300984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10314432" y="3300984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0891B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314432" y="3300984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822960" y="3867912"/>
            <a:ext cx="3474720" cy="512064"/>
          </a:xfrm>
          <a:prstGeom prst="roundRect">
            <a:avLst>
              <a:gd name="adj" fmla="val 10714"/>
            </a:avLst>
          </a:prstGeom>
          <a:solidFill>
            <a:srgbClr val="0E1530"/>
          </a:solidFill>
          <a:ln/>
        </p:spPr>
      </p:sp>
      <p:sp>
        <p:nvSpPr>
          <p:cNvPr id="54" name="Text 52"/>
          <p:cNvSpPr/>
          <p:nvPr/>
        </p:nvSpPr>
        <p:spPr>
          <a:xfrm>
            <a:off x="960120" y="386791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scoring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4389120" y="386791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0" y="3867912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5870448" y="386791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0448" y="3867912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7351776" y="386791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51776" y="3867912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8833104" y="386791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33104" y="3867912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10314432" y="386791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0891B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314432" y="3867912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822960" y="4434840"/>
            <a:ext cx="3474720" cy="512064"/>
          </a:xfrm>
          <a:prstGeom prst="roundRect">
            <a:avLst>
              <a:gd name="adj" fmla="val 10714"/>
            </a:avLst>
          </a:prstGeom>
          <a:solidFill>
            <a:srgbClr val="0E1530"/>
          </a:solidFill>
          <a:ln/>
        </p:spPr>
      </p:sp>
      <p:sp>
        <p:nvSpPr>
          <p:cNvPr id="66" name="Text 64"/>
          <p:cNvSpPr/>
          <p:nvPr/>
        </p:nvSpPr>
        <p:spPr>
          <a:xfrm>
            <a:off x="960120" y="4434840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cited answers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4389120" y="4434840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89120" y="4434840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5870448" y="4434840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70448" y="4434840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71" name="Shape 69"/>
          <p:cNvSpPr/>
          <p:nvPr/>
        </p:nvSpPr>
        <p:spPr>
          <a:xfrm>
            <a:off x="7351776" y="4434840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51776" y="4434840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8833104" y="4434840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833104" y="4434840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10314432" y="4434840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0891B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314432" y="4434840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822960" y="5001768"/>
            <a:ext cx="3474720" cy="512064"/>
          </a:xfrm>
          <a:prstGeom prst="roundRect">
            <a:avLst>
              <a:gd name="adj" fmla="val 10714"/>
            </a:avLst>
          </a:prstGeom>
          <a:solidFill>
            <a:srgbClr val="0E1530"/>
          </a:solidFill>
          <a:ln/>
        </p:spPr>
      </p:sp>
      <p:sp>
        <p:nvSpPr>
          <p:cNvPr id="78" name="Text 76"/>
          <p:cNvSpPr/>
          <p:nvPr/>
        </p:nvSpPr>
        <p:spPr>
          <a:xfrm>
            <a:off x="960120" y="500176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 actions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4389120" y="5001768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89120" y="5001768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81" name="Shape 79"/>
          <p:cNvSpPr/>
          <p:nvPr/>
        </p:nvSpPr>
        <p:spPr>
          <a:xfrm>
            <a:off x="5870448" y="5001768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70448" y="5001768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83" name="Shape 81"/>
          <p:cNvSpPr/>
          <p:nvPr/>
        </p:nvSpPr>
        <p:spPr>
          <a:xfrm>
            <a:off x="7351776" y="5001768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351776" y="5001768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85" name="Shape 83"/>
          <p:cNvSpPr/>
          <p:nvPr/>
        </p:nvSpPr>
        <p:spPr>
          <a:xfrm>
            <a:off x="8833104" y="5001768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121A3A">
              <a:alpha val="60000"/>
            </a:srgbClr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833104" y="5001768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87" name="Shape 85"/>
          <p:cNvSpPr/>
          <p:nvPr/>
        </p:nvSpPr>
        <p:spPr>
          <a:xfrm>
            <a:off x="10314432" y="5001768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0891B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314432" y="5001768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9" name="Text 87"/>
          <p:cNvSpPr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FactoryOS 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548640"/>
            <a:ext cx="2194560" cy="2194560"/>
          </a:xfrm>
          <a:prstGeom prst="ellipse">
            <a:avLst/>
          </a:prstGeom>
          <a:solidFill>
            <a:srgbClr val="0891B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5669280"/>
            <a:ext cx="2560320" cy="256032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scalable SaaS model in a massive market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019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Per-Factory Subscription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2128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enterprise SaaS licensing scoped to each facility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163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Access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1272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engineer and technician seats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307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AI Modules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0416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&amp; fault diagnosis add-ons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457200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6451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Services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9560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integration, and custom knowledge ingestion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1463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8745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6366F1">
              <a:alpha val="80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947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industrial software &amp; AI market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49440" y="292608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3B82F6">
              <a:alpha val="80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9992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3232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platforms for manufacturing &amp; heavy industry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98080" y="397764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22D3EE">
              <a:alpha val="80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4050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80960" y="4434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Mid-to-large factories reachable in first 3 years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0" y="5120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manufacturing, energy, pharma, and process industry vertical carries the same fragmented-knowledge problem — the addressable footprint scales with industrial digitization.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FactoryOS 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4023360" cy="402336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4023360" cy="4023360"/>
          </a:xfrm>
          <a:prstGeom prst="ellipse">
            <a:avLst/>
          </a:prstGeom>
          <a:solidFill>
            <a:srgbClr val="0891B2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WILL WIN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like a startup. Ready like a product.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947672"/>
            <a:ext cx="548640" cy="548640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737360" y="181965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 architecture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219456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demo script — a real orchestrated agent pipeline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947672"/>
            <a:ext cx="548640" cy="548640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7315200" y="181965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by 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219456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drawings, images, and sensor data reasoned together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297180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227832"/>
            <a:ext cx="548640" cy="548640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1737360" y="309981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37360" y="347472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cites its source — critical for safety-critical industries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297180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121A3A"/>
          </a:solidFill>
          <a:ln w="12700">
            <a:solidFill>
              <a:srgbClr val="1D27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3227832"/>
            <a:ext cx="548640" cy="548640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7315200" y="309981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Massive, underserved market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347472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heavy industry has this exact problem today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4709160"/>
            <a:ext cx="10515600" cy="0"/>
          </a:xfrm>
          <a:prstGeom prst="line">
            <a:avLst/>
          </a:prstGeom>
          <a:noFill/>
          <a:ln w="12700">
            <a:solidFill>
              <a:srgbClr val="1D27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937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82296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FactoryOS AI — The Industrial Intelligence Operating System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 ·  Team FactoryOS  ·  FluxWave 2.0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 / 10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FactoryOS 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2026-07-27T13:53:05Z</dcterms:created>
  <dcterms:modified xsi:type="dcterms:W3CDTF">2026-07-27T13:53:05Z</dcterms:modified>
</cp:coreProperties>
</file>